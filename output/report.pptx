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2C54"/>
          </a:solidFill>
          <a:ln w="12700">
            <a:solidFill>
              <a:srgbClr val="0F2C5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46304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2026年 消化器・乳がん 第Ⅲ相試験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規制承認 総合レポート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胃がん・大腸がん・乳がん｜2026年5月〜9月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作成日：2026年9月27日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4754880"/>
            <a:ext cx="1645920" cy="4572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00400" y="4754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94960" y="4754880"/>
            <a:ext cx="1645920" cy="457200"/>
          </a:xfrm>
          <a:prstGeom prst="rect">
            <a:avLst/>
          </a:prstGeom>
          <a:solidFill>
            <a:srgbClr val="5C37A0"/>
          </a:solidFill>
          <a:ln w="12700">
            <a:solidFill>
              <a:srgbClr val="5C37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394960" y="4754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大腸がん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589520" y="4754880"/>
            <a:ext cx="1645920" cy="457200"/>
          </a:xfrm>
          <a:prstGeom prst="rect">
            <a:avLst/>
          </a:prstGeom>
          <a:solidFill>
            <a:srgbClr val="C0185A"/>
          </a:solidFill>
          <a:ln w="12700">
            <a:solidFill>
              <a:srgbClr val="C018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4754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5778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本編収録：12試験 | FDA承認：10件 | PMDA承認：5件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エグゼクティブサマリー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最重要5点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457200" cy="6858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32588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53312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胃がん1L：HER2+治療パラダイム転換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62763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HERIZON-GEA-01（bispecific抗体zanidatamab+tislelizumab+化学療法）がOS HR 0.72で標準治療を凌駕。FDA承認取得（2026-08-25）。GEA一次治療として初の中央値PFS 1年超・OS 2年超。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57200" cy="68580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228600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313432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胃がん術前術後療法の確立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58775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MATTERHORN最終OS解析（durvalumab+FLOT, HR 0.78, p=0.021）およびASTRUM-006（serplulimab+SOX, EFS HR 0.65）が切除可能胃がんへの免疫療法追加のOS・EFS改善を実証。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57200" cy="685800"/>
          </a:xfrm>
          <a:prstGeom prst="rect">
            <a:avLst/>
          </a:prstGeom>
          <a:solidFill>
            <a:srgbClr val="C0185A"/>
          </a:solidFill>
          <a:ln w="12700">
            <a:solidFill>
              <a:srgbClr val="C018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324612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3273552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乳がん：ADCと内分泌療法の新境地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54787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TROPION-Breast02（Dato-DXd, TNBC 1L, PFS HR 0.57, OS HR 0.79）がFDA・PMDA双方で承認。SERENA-6（camizestrant, ESR1変異HR+）もFDA加速承認・PMDA承認取得。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457200" cy="685800"/>
          </a:xfrm>
          <a:prstGeom prst="rect">
            <a:avLst/>
          </a:prstGeom>
          <a:solidFill>
            <a:srgbClr val="5C37A0"/>
          </a:solidFill>
          <a:ln w="12700">
            <a:solidFill>
              <a:srgbClr val="5C37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420624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4233672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大腸がん：BRAF標的とMSI-H治療の進展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50799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BREAKWATER Cohort 3（EC+FOLFIRI, BRAF V600E 1L, ORR 64.4%, PFS HR 0.44）が新標準候補に。COMMIT（triplet, dMMR/MSI-H, PFS 24.5 vs 5.3月）は対照群解釈に注意。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5166360"/>
            <a:ext cx="457200" cy="685800"/>
          </a:xfrm>
          <a:prstGeom prst="rect">
            <a:avLst/>
          </a:prstGeom>
          <a:solidFill>
            <a:srgbClr val="C0185A"/>
          </a:solidFill>
          <a:ln w="12700">
            <a:solidFill>
              <a:srgbClr val="C018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5166360"/>
            <a:ext cx="457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193792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陰性試験と承認取り消し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60120" y="5468112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NSABP B-59（アテゾリズマブ+化学療法, 早期TNBC, EFS HR 0.80 p=0.083）は主要EP未達。KRYSTAL-10（adagrasib+cetuximab）はFDA加速承認取り消し（2026-09-01）。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調査方法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情報源・検索式・スクリーニング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2377440" cy="548640"/>
          </a:xfrm>
          <a:prstGeom prst="rect">
            <a:avLst/>
          </a:prstGeom>
          <a:solidFill>
            <a:srgbClr val="0BA5A0"/>
          </a:solidFill>
          <a:ln w="12700">
            <a:solidFill>
              <a:srgbClr val="0BA5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65760" y="12801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情報源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1280160"/>
            <a:ext cx="8961120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135331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PubMed（胃がん・大腸がん・乳がん）、FDA承認情報、PMDA承認情報、ASCO/ESMO学会発表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2377440" cy="548640"/>
          </a:xfrm>
          <a:prstGeom prst="rect">
            <a:avLst/>
          </a:prstGeom>
          <a:solidFill>
            <a:srgbClr val="0BA5A0"/>
          </a:solidFill>
          <a:ln w="12700">
            <a:solidFill>
              <a:srgbClr val="0BA5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93852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対象期間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88920" y="1938528"/>
            <a:ext cx="8961120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80360" y="20116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2026年5月1日〜2026年9月27日（論文公表日または承認日）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596896"/>
            <a:ext cx="2377440" cy="548640"/>
          </a:xfrm>
          <a:prstGeom prst="rect">
            <a:avLst/>
          </a:prstGeom>
          <a:solidFill>
            <a:srgbClr val="0BA5A0"/>
          </a:solidFill>
          <a:ln w="12700">
            <a:solidFill>
              <a:srgbClr val="0BA5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5760" y="259689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対象試験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2596896"/>
            <a:ext cx="8961120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80360" y="2670048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第Ⅲ相ランダム化比較試験（RCT）、登録済み・査読誌掲載（学会抄録のみは原則除外）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2377440" cy="548640"/>
          </a:xfrm>
          <a:prstGeom prst="rect">
            <a:avLst/>
          </a:prstGeom>
          <a:solidFill>
            <a:srgbClr val="0BA5A0"/>
          </a:solidFill>
          <a:ln w="12700">
            <a:solidFill>
              <a:srgbClr val="0BA5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65760" y="325526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がん種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3255264"/>
            <a:ext cx="8961120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880360" y="3328416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胃がん/GEJ腺癌（食道腺癌含む）、大腸がん（直腸・結腸）、乳がん（全サブタイプ）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13632"/>
            <a:ext cx="2377440" cy="548640"/>
          </a:xfrm>
          <a:prstGeom prst="rect">
            <a:avLst/>
          </a:prstGeom>
          <a:solidFill>
            <a:srgbClr val="0BA5A0"/>
          </a:solidFill>
          <a:ln w="12700">
            <a:solidFill>
              <a:srgbClr val="0BA5A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39136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スクリーニング結果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88920" y="3913632"/>
            <a:ext cx="8961120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880360" y="3986784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収録12件 | regulatory_only 9件 | 要確認1件（HORIZON-CRC01: 抄録のみ）| 除外5件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2377440" cy="548640"/>
          </a:xfrm>
          <a:prstGeom prst="rect">
            <a:avLst/>
          </a:prstGeom>
          <a:solidFill>
            <a:srgbClr val="0BA5A0"/>
          </a:solidFill>
          <a:ln w="12700">
            <a:solidFill>
              <a:srgbClr val="0BA5A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5760" y="45720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例外適用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4572000"/>
            <a:ext cx="8961120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80360" y="4645152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SERENA-6（FDA/PMDA承認根拠のため収録）、TROPION-Breast02（Epub 2026-04は期間外、印刷版2026-08は期間内かつFDA/PMDA承認）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5230368"/>
            <a:ext cx="2377440" cy="548640"/>
          </a:xfrm>
          <a:prstGeom prst="rect">
            <a:avLst/>
          </a:prstGeom>
          <a:solidFill>
            <a:srgbClr val="0BA5A0"/>
          </a:solidFill>
          <a:ln w="12700">
            <a:solidFill>
              <a:srgbClr val="0BA5A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65760" y="52303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除外理由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88920" y="5230368"/>
            <a:ext cx="8961120" cy="548640"/>
          </a:xfrm>
          <a:prstGeom prst="rect">
            <a:avLst/>
          </a:prstGeom>
          <a:solidFill>
            <a:srgbClr val="F4F7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880360" y="530352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E1: 学会抄録のみ（KEYNOTE-522, ATTRACTION-6, PANKU-Breast02, KRYSTAL-10）| E2: プレスリリースのみ（CLARITY-Gastric01）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規制当局の動き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FDA承認10件・PMDA承認5件（2026年5〜9月）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" y="11887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FDA承認 10件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4320" y="1600200"/>
            <a:ext cx="1188720" cy="27432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承認日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1600200"/>
            <a:ext cx="1371600" cy="27432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試験名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600200"/>
            <a:ext cx="1645920" cy="27432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薬剤名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1600200"/>
            <a:ext cx="640080" cy="27432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がん種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600200"/>
            <a:ext cx="822960" cy="27432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適応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1600200"/>
            <a:ext cx="548640" cy="274320"/>
          </a:xfrm>
          <a:prstGeom prst="rect">
            <a:avLst/>
          </a:prstGeom>
          <a:solidFill>
            <a:srgbClr val="E8EE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備考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" y="1920240"/>
            <a:ext cx="1188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2026-05-01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1920240"/>
            <a:ext cx="1371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VERITAC-2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1920240"/>
            <a:ext cx="16459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vepdegestrant（Veppanu）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1920240"/>
            <a:ext cx="6400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1920240"/>
            <a:ext cx="822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ESR1変異HR+/HER2−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1920240"/>
            <a:ext cx="548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初PROTAC承認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" y="2423160"/>
            <a:ext cx="118872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2026-05-15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508760" y="2423160"/>
            <a:ext cx="137160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DESTINY-Breast05/11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2423160"/>
            <a:ext cx="164592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T-DXd（Enhertu）×2適応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2423160"/>
            <a:ext cx="64008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2423160"/>
            <a:ext cx="82296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HER2+ 早期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2423160"/>
            <a:ext cx="54864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adj+neoadj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" y="2926080"/>
            <a:ext cx="1188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2026-05-22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508760" y="2926080"/>
            <a:ext cx="1371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TROPION-Breast02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926080" y="2926080"/>
            <a:ext cx="16459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Dato-DXd（Datroway）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2926080"/>
            <a:ext cx="6400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2926080"/>
            <a:ext cx="822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TNBC 1L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2926080"/>
            <a:ext cx="548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HR 0.57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274320" y="3429000"/>
            <a:ext cx="118872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2026-06-24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3429000"/>
            <a:ext cx="137160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ASCENT-03/04, PATINA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2926080" y="3429000"/>
            <a:ext cx="164592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SG単剤, SG+pembro, パルボシクリブ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0" y="3429000"/>
            <a:ext cx="64008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3429000"/>
            <a:ext cx="82296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各種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0" y="3429000"/>
            <a:ext cx="54864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3承認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274320" y="3931920"/>
            <a:ext cx="1188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2026-07-14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508760" y="3931920"/>
            <a:ext cx="1371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VIKTORIA-1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926080" y="3931920"/>
            <a:ext cx="16459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gedatolisib（Revtorpyk）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4572000" y="3931920"/>
            <a:ext cx="6400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303520" y="3931920"/>
            <a:ext cx="822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PIK3CA変異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0" y="3931920"/>
            <a:ext cx="548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初pan-PI3K/mTOR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274320" y="4434840"/>
            <a:ext cx="118872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2026-08-25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508760" y="4434840"/>
            <a:ext cx="137160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HERIZON-GEA-01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2926080" y="4434840"/>
            <a:ext cx="164592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zanidatamab+tislelizumab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0" y="4434840"/>
            <a:ext cx="64008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5303520" y="4434840"/>
            <a:ext cx="82296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HER2+ 1L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0" y="4434840"/>
            <a:ext cx="548640" cy="45720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HR 0.72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274320" y="4937760"/>
            <a:ext cx="11887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2026-09-04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508760" y="4937760"/>
            <a:ext cx="13716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SERENA-6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2926080" y="4937760"/>
            <a:ext cx="164592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camizestrant（Etcamah）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4572000" y="4937760"/>
            <a:ext cx="64008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5303520" y="4937760"/>
            <a:ext cx="82296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ESR1変異HR+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0" y="4937760"/>
            <a:ext cx="5486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加速承認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09360" y="1188720"/>
            <a:ext cx="5577840" cy="365760"/>
          </a:xfrm>
          <a:prstGeom prst="rect">
            <a:avLst/>
          </a:prstGeom>
          <a:solidFill>
            <a:srgbClr val="A00030"/>
          </a:solidFill>
          <a:ln w="12700">
            <a:solidFill>
              <a:srgbClr val="A0003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09360" y="118872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PMDA承認 5件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309360" y="1600200"/>
            <a:ext cx="1005840" cy="274320"/>
          </a:xfrm>
          <a:prstGeom prst="rect">
            <a:avLst/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承認日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7406640" y="1600200"/>
            <a:ext cx="1280160" cy="274320"/>
          </a:xfrm>
          <a:prstGeom prst="rect">
            <a:avLst/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試験名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8686800" y="1600200"/>
            <a:ext cx="1554480" cy="274320"/>
          </a:xfrm>
          <a:prstGeom prst="rect">
            <a:avLst/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薬剤名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10332720" y="1600200"/>
            <a:ext cx="640080" cy="274320"/>
          </a:xfrm>
          <a:prstGeom prst="rect">
            <a:avLst/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がん種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10972800" y="1600200"/>
            <a:ext cx="914400" cy="274320"/>
          </a:xfrm>
          <a:prstGeom prst="rect">
            <a:avLst/>
          </a:prstGeom>
          <a:solidFill>
            <a:srgbClr val="FDE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適応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309360" y="1920240"/>
            <a:ext cx="1005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2026-06-19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7406640" y="1920240"/>
            <a:ext cx="12801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MATTERHORN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8686800" y="1920240"/>
            <a:ext cx="1554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durvalumab（イミフィンジ）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10332720" y="1920240"/>
            <a:ext cx="6400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</a:t>
            </a:r>
            <a:endParaRPr lang="en-US" sz="900" dirty="0"/>
          </a:p>
        </p:txBody>
      </p:sp>
      <p:sp>
        <p:nvSpPr>
          <p:cNvPr id="66" name="Text 64"/>
          <p:cNvSpPr txBox="1"/>
          <p:nvPr/>
        </p:nvSpPr>
        <p:spPr>
          <a:xfrm>
            <a:off x="10972800" y="1920240"/>
            <a:ext cx="9144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切除可能 術前術後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6309360" y="2560320"/>
            <a:ext cx="1005840" cy="5486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2026-06-19</a:t>
            </a:r>
            <a:endParaRPr lang="en-US" sz="900" dirty="0"/>
          </a:p>
        </p:txBody>
      </p:sp>
      <p:sp>
        <p:nvSpPr>
          <p:cNvPr id="68" name="Text 66"/>
          <p:cNvSpPr txBox="1"/>
          <p:nvPr/>
        </p:nvSpPr>
        <p:spPr>
          <a:xfrm>
            <a:off x="7406640" y="2560320"/>
            <a:ext cx="1280160" cy="5486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RATIONALE-305</a:t>
            </a:r>
            <a:endParaRPr lang="en-US" sz="900" dirty="0"/>
          </a:p>
        </p:txBody>
      </p:sp>
      <p:sp>
        <p:nvSpPr>
          <p:cNvPr id="69" name="Text 67"/>
          <p:cNvSpPr txBox="1"/>
          <p:nvPr/>
        </p:nvSpPr>
        <p:spPr>
          <a:xfrm>
            <a:off x="8686800" y="2560320"/>
            <a:ext cx="1554480" cy="5486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tislelizumab（テビムブラ）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10332720" y="2560320"/>
            <a:ext cx="640080" cy="5486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</a:t>
            </a:r>
            <a:endParaRPr lang="en-US" sz="900" dirty="0"/>
          </a:p>
        </p:txBody>
      </p:sp>
      <p:sp>
        <p:nvSpPr>
          <p:cNvPr id="71" name="Text 69"/>
          <p:cNvSpPr txBox="1"/>
          <p:nvPr/>
        </p:nvSpPr>
        <p:spPr>
          <a:xfrm>
            <a:off x="10972800" y="2560320"/>
            <a:ext cx="914400" cy="5486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HER2− 1L</a:t>
            </a:r>
            <a:endParaRPr lang="en-US" sz="900" dirty="0"/>
          </a:p>
        </p:txBody>
      </p:sp>
      <p:sp>
        <p:nvSpPr>
          <p:cNvPr id="72" name="Text 70"/>
          <p:cNvSpPr txBox="1"/>
          <p:nvPr/>
        </p:nvSpPr>
        <p:spPr>
          <a:xfrm>
            <a:off x="6309360" y="3200400"/>
            <a:ext cx="1005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2026-07-10</a:t>
            </a:r>
            <a:endParaRPr lang="en-US" sz="900" dirty="0"/>
          </a:p>
        </p:txBody>
      </p:sp>
      <p:sp>
        <p:nvSpPr>
          <p:cNvPr id="73" name="Text 71"/>
          <p:cNvSpPr txBox="1"/>
          <p:nvPr/>
        </p:nvSpPr>
        <p:spPr>
          <a:xfrm>
            <a:off x="7406640" y="3200400"/>
            <a:ext cx="12801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SERENA-6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8686800" y="3200400"/>
            <a:ext cx="1554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camizestrant（エトカマ）</a:t>
            </a:r>
            <a:endParaRPr lang="en-US" sz="900" dirty="0"/>
          </a:p>
        </p:txBody>
      </p:sp>
      <p:sp>
        <p:nvSpPr>
          <p:cNvPr id="75" name="Text 73"/>
          <p:cNvSpPr txBox="1"/>
          <p:nvPr/>
        </p:nvSpPr>
        <p:spPr>
          <a:xfrm>
            <a:off x="10332720" y="3200400"/>
            <a:ext cx="6400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900" dirty="0"/>
          </a:p>
        </p:txBody>
      </p:sp>
      <p:sp>
        <p:nvSpPr>
          <p:cNvPr id="76" name="Text 74"/>
          <p:cNvSpPr txBox="1"/>
          <p:nvPr/>
        </p:nvSpPr>
        <p:spPr>
          <a:xfrm>
            <a:off x="10972800" y="3200400"/>
            <a:ext cx="9144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ESR1変異HR+</a:t>
            </a:r>
            <a:endParaRPr lang="en-US" sz="900" dirty="0"/>
          </a:p>
        </p:txBody>
      </p:sp>
      <p:sp>
        <p:nvSpPr>
          <p:cNvPr id="77" name="Text 75"/>
          <p:cNvSpPr txBox="1"/>
          <p:nvPr/>
        </p:nvSpPr>
        <p:spPr>
          <a:xfrm>
            <a:off x="6309360" y="3840480"/>
            <a:ext cx="1005840" cy="5486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2026-09-16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7406640" y="3840480"/>
            <a:ext cx="1280160" cy="5486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TROPION-Breast02</a:t>
            </a:r>
            <a:endParaRPr lang="en-US" sz="900" dirty="0"/>
          </a:p>
        </p:txBody>
      </p:sp>
      <p:sp>
        <p:nvSpPr>
          <p:cNvPr id="79" name="Text 77"/>
          <p:cNvSpPr txBox="1"/>
          <p:nvPr/>
        </p:nvSpPr>
        <p:spPr>
          <a:xfrm>
            <a:off x="8686800" y="3840480"/>
            <a:ext cx="1554480" cy="5486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Dato-DXd（ダトロウェイ）</a:t>
            </a:r>
            <a:endParaRPr lang="en-US" sz="900" dirty="0"/>
          </a:p>
        </p:txBody>
      </p:sp>
      <p:sp>
        <p:nvSpPr>
          <p:cNvPr id="80" name="Text 78"/>
          <p:cNvSpPr txBox="1"/>
          <p:nvPr/>
        </p:nvSpPr>
        <p:spPr>
          <a:xfrm>
            <a:off x="10332720" y="3840480"/>
            <a:ext cx="640080" cy="5486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10972800" y="3840480"/>
            <a:ext cx="914400" cy="548640"/>
          </a:xfrm>
          <a:prstGeom prst="rect">
            <a:avLst/>
          </a:prstGeom>
          <a:solidFill>
            <a:srgbClr val="F8F8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TNBC 1L</a:t>
            </a:r>
            <a:endParaRPr lang="en-US" sz="900" dirty="0"/>
          </a:p>
        </p:txBody>
      </p:sp>
      <p:sp>
        <p:nvSpPr>
          <p:cNvPr id="82" name="Text 80"/>
          <p:cNvSpPr txBox="1"/>
          <p:nvPr/>
        </p:nvSpPr>
        <p:spPr>
          <a:xfrm>
            <a:off x="6309360" y="4480560"/>
            <a:ext cx="100584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2026-09-16</a:t>
            </a:r>
            <a:endParaRPr lang="en-US" sz="900" dirty="0"/>
          </a:p>
        </p:txBody>
      </p:sp>
      <p:sp>
        <p:nvSpPr>
          <p:cNvPr id="83" name="Text 81"/>
          <p:cNvSpPr txBox="1"/>
          <p:nvPr/>
        </p:nvSpPr>
        <p:spPr>
          <a:xfrm>
            <a:off x="7406640" y="4480560"/>
            <a:ext cx="128016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DESTINY-Breast09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8686800" y="4480560"/>
            <a:ext cx="15544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T-DXd（エンハーツ）</a:t>
            </a:r>
            <a:endParaRPr lang="en-US" sz="900" dirty="0"/>
          </a:p>
        </p:txBody>
      </p:sp>
      <p:sp>
        <p:nvSpPr>
          <p:cNvPr id="85" name="Text 83"/>
          <p:cNvSpPr txBox="1"/>
          <p:nvPr/>
        </p:nvSpPr>
        <p:spPr>
          <a:xfrm>
            <a:off x="10332720" y="4480560"/>
            <a:ext cx="64008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900" dirty="0"/>
          </a:p>
        </p:txBody>
      </p:sp>
      <p:sp>
        <p:nvSpPr>
          <p:cNvPr id="86" name="Text 84"/>
          <p:cNvSpPr txBox="1"/>
          <p:nvPr/>
        </p:nvSpPr>
        <p:spPr>
          <a:xfrm>
            <a:off x="10972800" y="4480560"/>
            <a:ext cx="91440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HER2+ 1L</a:t>
            </a:r>
            <a:endParaRPr lang="en-US" sz="900" dirty="0"/>
          </a:p>
        </p:txBody>
      </p:sp>
      <p:sp>
        <p:nvSpPr>
          <p:cNvPr id="87" name="Text 85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FDA: fda.gov/drugs | PMDA: pmda.go.jp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胃がん試験一覧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5試験（2026年5〜9月）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11795760" cy="3200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12344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試験名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234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サブタイプ/設定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2344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 vs 対照群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303520" y="1234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234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主要EP/PFS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12344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0" y="123444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1234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1600200"/>
            <a:ext cx="123444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HERIZON-GEA-01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600200"/>
            <a:ext cx="16002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HER2+ 1L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1600200"/>
            <a:ext cx="20574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zanidatamab+tisle+化療 vs trast+化療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303520" y="1600200"/>
            <a:ext cx="41148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914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760720" y="1600200"/>
            <a:ext cx="196596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12.4 vs 8.1m / HR 0.63-0.65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1600200"/>
            <a:ext cx="11430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HR 0.72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961120" y="1600200"/>
            <a:ext cx="105156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2026-08-25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0" y="1600200"/>
            <a:ext cx="18288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DOI:10.1056/NEJMoa2517729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74320" y="2560320"/>
            <a:ext cx="123444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KC-WISE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2560320"/>
            <a:ext cx="160020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HER2+ 2L+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2560320"/>
            <a:ext cx="205740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anbenitamab+化療 vs PBO+化療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2560320"/>
            <a:ext cx="41148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2560320"/>
            <a:ext cx="196596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HR 0.25 p&lt;0.0001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772400" y="2560320"/>
            <a:ext cx="114300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HR 0.29 p&lt;0.0001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961120" y="2560320"/>
            <a:ext cx="105156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2560320"/>
            <a:ext cx="182880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PMID:41571045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274320" y="3520440"/>
            <a:ext cx="123444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ASTRUM-006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554480" y="3520440"/>
            <a:ext cx="16002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CPS≥10 切除可能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3200400" y="3520440"/>
            <a:ext cx="20574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serplulimab+SOX vs PBO+SOX（術前後）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303520" y="3520440"/>
            <a:ext cx="41148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588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760720" y="3520440"/>
            <a:ext cx="196596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EFS HR 0.65 (0.47-0.90) p=0.0082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7772400" y="3520440"/>
            <a:ext cx="11430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NR（未成熟）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961120" y="3520440"/>
            <a:ext cx="105156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0" y="3520440"/>
            <a:ext cx="18288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PMID:42225112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74320" y="4480560"/>
            <a:ext cx="123444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CM649 5年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554480" y="4480560"/>
            <a:ext cx="160020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HER2− CPS≥5 1L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3200400" y="4480560"/>
            <a:ext cx="205740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nivo+化療 vs 化療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5303520" y="4480560"/>
            <a:ext cx="41148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1581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5760720" y="4480560"/>
            <a:ext cx="196596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HR 0.71 (0.61-0.81)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772400" y="4480560"/>
            <a:ext cx="114300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5年OS 16% vs 6%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961120" y="4480560"/>
            <a:ext cx="105156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承認済(2021)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10058400" y="4480560"/>
            <a:ext cx="1828800" cy="868680"/>
          </a:xfrm>
          <a:prstGeom prst="rect">
            <a:avLst/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PMID:41687718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274320" y="5440680"/>
            <a:ext cx="123444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MATTERHORN OS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1554480" y="5440680"/>
            <a:ext cx="16002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切除可能 periop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3200400" y="5440680"/>
            <a:ext cx="20574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durvalumab+FLOT vs PBO+FLOT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5303520" y="5440680"/>
            <a:ext cx="41148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948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5760720" y="5440680"/>
            <a:ext cx="196596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HR 0.78 (0.63-0.96) p=0.021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7772400" y="5440680"/>
            <a:ext cx="11430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EFS HR 0.71（既報）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8961120" y="5440680"/>
            <a:ext cx="105156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PMDA 2026-06-19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10058400" y="5440680"/>
            <a:ext cx="1828800" cy="8686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DOI:10.1016/S0140-6736(26)01254-7</a:t>
            </a:r>
            <a:endParaRPr lang="en-US" sz="950" dirty="0"/>
          </a:p>
        </p:txBody>
      </p:sp>
      <p:sp>
        <p:nvSpPr>
          <p:cNvPr id="56" name="Text 54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HERIZON-GEA-01 DOI:10.1056/NEJMoa2517729 | KC-WISE PMID:41571045 | ASTRUM-006 PMID:42225112 | CM649 PMID:41687718 | MATTERHORN DOI:10.1016/S0140-6736(26)01254-7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胃がん主要試験① HERIZON-GEA-01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NCT05152147 | NEJM 2026-05-27 | FDA承認 2026-08-25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HR (Arm B vs C)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0.63–0.65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（有意差あり）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HR (Arm B vs C)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有意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0BA5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PFS中央値 試験群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12.4ヶ月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A・B共通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PFS中央値 対照群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6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8.1ヶ月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C (trastuzumab)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OS中央値 Arm B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26.4ヶ月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19.2ヶ月 (C)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11612880" cy="274320"/>
          </a:xfrm>
          <a:prstGeom prst="rect">
            <a:avLst/>
          </a:prstGeom>
          <a:solidFill>
            <a:srgbClr val="0F2C54"/>
          </a:solidFill>
          <a:ln w="12700">
            <a:solidFill>
              <a:srgbClr val="0F2C5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4320" y="37490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試験デザイン・臨床的意義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40690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対象: HER2陽性（IHC3+またはFISH陽性）進行/転移GEA 一次治療（N=914、3群）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45262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A: zanidatamab+化療 vs Arm C: trastuzumab+化療（PFS主要EP）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49834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 B: zanidatamab+tislelizumab+化療 vs Arm C（PFS・OS 主要EP）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54406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臨床的意義: mGEAとして初めて中央値PFS 1年超・OS 2年超を達成。bispecific抗HER2抗体 zanidatamab の新標準治療確立。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58978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FDA承認: zanidatamab-hrii + tislelizumab-jsgr（Ziihera+Tevimbra）2026-08-25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10.1056/NEJMoa2517729 | NEJM 2026-05-27 | PMID: NR（NEJM DOI確認済み）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胃がん主要試験② MATTERHORN 最終OS解析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NCT04592913 | Lancet 2026-09-09 | PMDA承認 2026-06-19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95%CI 0.63–0.96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p値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0BA5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OS中央値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NR（両群未到達）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データカットオフ 2025-09-01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追跡期間中央値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約41–43ヶ月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E07B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死亡数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160/474 vs 192/474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 vs 41%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11612880" cy="274320"/>
          </a:xfrm>
          <a:prstGeom prst="rect">
            <a:avLst/>
          </a:prstGeom>
          <a:solidFill>
            <a:srgbClr val="0F2C54"/>
          </a:solidFill>
          <a:ln w="12700">
            <a:solidFill>
              <a:srgbClr val="0F2C5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4320" y="37490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試験デザイン・臨床的意義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40690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対象: 切除可能Stage II〜IVa胃/GEJ腺癌（バイオマーカー制限なし、N=948）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45262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治療群: durvalumab 1500mg q4w + FLOT q2w（術前4サイクル → 術後4サイクル + durvalumab術後10サイクル）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49834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対照群: プラセボ + FLOT（同スケジュール）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54406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主要EP: EFS（NEJM 2025に一次解析既報, EFS HR 0.71）; 本解析: 最終OS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58978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臨床的意義: perioperative免疫療法の新標準確立。PMDA承認済み（イミフィンジ, 2026-06-19）。FDA承認状況は要確認（fda.json非収録）。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 10.1016/S0140-6736(26)01254-7 | Lancet 2026-09-09 | PMDA承認: 2026-06-19（イミフィンジ）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胃がん主要試験③ KC-WISE / ASTRUM-006 / CM649 5年追跡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116128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7B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25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KC-WISE（N=187）— HER2+ 2L+（trastuzumab治療歴あり）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692640" y="1325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161848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試験群: anbenitamab 30mg/kg q3w + 化療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87452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対照群: プラセボ + 化療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1305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PFS/EFS: PFS HR 0.25 (p&lt;0.0001) / 7.1 vs 2.7ヶ月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21305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OS: OS HR 0.29 (p&lt;0.0001) / 19.6 vs 11.5ヶ月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46888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PMID:41571045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11612880" cy="1554480"/>
          </a:xfrm>
          <a:prstGeom prst="rect">
            <a:avLst/>
          </a:prstGeom>
          <a:solidFill>
            <a:srgbClr val="FFF5E8"/>
          </a:solidFill>
          <a:ln w="6350">
            <a:solidFill>
              <a:srgbClr val="E07B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17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ASTRUM-006（N=588）— CPS≥10 切除可能（術前後）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692640" y="30175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31012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試験群: serplulimab + SOX → 手術 → serplulimab継続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56616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対照群: PBO + SOX → 手術 → SOX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8221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PFS/EFS: EFS HR 0.65 (0.47–0.90) p=0.0082 / NR vs 42.0ヶ月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38221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OS: OS NR（未成熟）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16052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PMID:42225112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4663440"/>
            <a:ext cx="116128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07B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7091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CheckMate 649 5yr（N=1581）— HER2− CPS≥5 1L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692640" y="470916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BA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承認済(2021)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500176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試験群: nivolumab 360mg q3w + CAPOX/FOLFOX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525780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対照群: CAPOX/FOLFOX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55138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PFS/EFS: OS HR 0.71 (0.61–0.81) / 14.4 vs 11.1ヶ月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55138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OS: 5年OS 16% vs 6% | ORR 58% vs 46%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5852160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出典: PMID:41687718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KC-WISE PMID:41571045 | ASTRUM-006 PMID:42225112 | CM649 PMID:41687718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solidFill>
            <a:srgbClr val="5C37A0"/>
          </a:solidFill>
          <a:ln w="12700">
            <a:solidFill>
              <a:srgbClr val="5C37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大腸がん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大腸がん試験一覧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2試験（2026年5〜9月）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11795760" cy="320040"/>
          </a:xfrm>
          <a:prstGeom prst="rect">
            <a:avLst/>
          </a:prstGeom>
          <a:solidFill>
            <a:srgbClr val="5C37A0"/>
          </a:solidFill>
          <a:ln w="12700">
            <a:solidFill>
              <a:srgbClr val="5C37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12344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試験名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12344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サブタイプ/設定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 vs 対照群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234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806440" y="1234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主要EP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OS/PFS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1234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378440" y="123444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1600200"/>
            <a:ext cx="128016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BREAKWATER Cohort 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1600200"/>
            <a:ext cx="164592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BRAF V600E mCRC 1L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1600200"/>
            <a:ext cx="201168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EC+FOLFIRI vs FOLFIRI±bev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1600200"/>
            <a:ext cx="41148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147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1600200"/>
            <a:ext cx="196596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ORR 64.4% vs 39.2% (OR 2.44)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1600200"/>
            <a:ext cx="137160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HR 0.44 / OS HR 0.56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1600200"/>
            <a:ext cx="109728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要確認（EC+mFOLFOX6 2024承認）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0378440" y="1600200"/>
            <a:ext cx="169164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PMID:42219860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274320" y="2697480"/>
            <a:ext cx="1280160" cy="1005840"/>
          </a:xfrm>
          <a:prstGeom prst="rect">
            <a:avLst/>
          </a:prstGeom>
          <a:solidFill>
            <a:srgbClr val="F0EB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(NRG-GI004)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600200" y="2697480"/>
            <a:ext cx="1645920" cy="1005840"/>
          </a:xfrm>
          <a:prstGeom prst="rect">
            <a:avLst/>
          </a:prstGeom>
          <a:solidFill>
            <a:srgbClr val="F0EB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dMMR/MSI-H mCRC 1L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2697480"/>
            <a:ext cx="2011680" cy="1005840"/>
          </a:xfrm>
          <a:prstGeom prst="rect">
            <a:avLst/>
          </a:prstGeom>
          <a:solidFill>
            <a:srgbClr val="F0EB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mFOLFOX6+bev+atezo vs atezo単剤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2697480"/>
            <a:ext cx="411480" cy="1005840"/>
          </a:xfrm>
          <a:prstGeom prst="rect">
            <a:avLst/>
          </a:prstGeom>
          <a:solidFill>
            <a:srgbClr val="F0EB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806440" y="2697480"/>
            <a:ext cx="1965960" cy="1005840"/>
          </a:xfrm>
          <a:prstGeom prst="rect">
            <a:avLst/>
          </a:prstGeom>
          <a:solidFill>
            <a:srgbClr val="F0EB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24.5 vs 5.3ヶ月 HR 0.44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2697480"/>
            <a:ext cx="1371600" cy="1005840"/>
          </a:xfrm>
          <a:prstGeom prst="rect">
            <a:avLst/>
          </a:prstGeom>
          <a:solidFill>
            <a:srgbClr val="F0EB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NR（未成熟）CR率 36%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9235440" y="2697480"/>
            <a:ext cx="1097280" cy="1005840"/>
          </a:xfrm>
          <a:prstGeom prst="rect">
            <a:avLst/>
          </a:prstGeom>
          <a:solidFill>
            <a:srgbClr val="F0EB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0378440" y="2697480"/>
            <a:ext cx="1691640" cy="1005840"/>
          </a:xfrm>
          <a:prstGeom prst="rect">
            <a:avLst/>
          </a:prstGeom>
          <a:solidFill>
            <a:srgbClr val="F0EB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PMID:42525921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931920"/>
            <a:ext cx="1161288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0AA0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5760" y="3977640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COMMIT注意: 対照群はアテゾリズマブ単剤（現在の標準治療はペムブロリズマブ）。triplet armのPFS改善は対照群の限界を反映している可能性あり。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BREAKWATER PMID:42219860 | COMMIT PMID:42525921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solidFill>
            <a:srgbClr val="5C37A0"/>
          </a:solidFill>
          <a:ln w="12700">
            <a:solidFill>
              <a:srgbClr val="5C37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大腸がん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大腸がん主要試験① BREAKWATER Cohort 3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NCT04607421 | Ann Oncol 2026-08 | PMID:42219860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5C37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ORR (主要EP)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7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64.4%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39.2% (p=0.0008)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5C37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(ORR)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7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2.443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95%CI 1.40–4.25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5C37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HR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7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95%CI 0.27–0.70 (p=0.0002)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0BA5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0.56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95%CI 0.34–0.94 | 18m OS 72% vs 55%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DoR中央値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13.9 vs 11.1ヶ月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 vs 対照群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11612880" cy="274320"/>
          </a:xfrm>
          <a:prstGeom prst="rect">
            <a:avLst/>
          </a:prstGeom>
          <a:solidFill>
            <a:srgbClr val="0F2C54"/>
          </a:solidFill>
          <a:ln w="12700">
            <a:solidFill>
              <a:srgbClr val="0F2C5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4320" y="37490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試験デザイン・臨床的意義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40690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対象: BRAF V600E変異型 mCRC 一次治療（N=147; 試験群 n=73, 対照群 n=74）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45262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試験群: エンコラフェニブ + セツキシマブ + FOLFIRI（EC+FOLFIRI）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49834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対照群: FOLFIRI ± ベバシズマブ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54406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臨床的意義: BRAF V600E変異mCRC 1Lにおいて、ORR・PFS・OS全てで有意改善。BRAF阻害薬+EGFR抗体+FOLFIRIの新標準療法候補。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58978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EC+mFOLFOX6は2024年12月加速承認 → 2026年本承認（別コホート）。EC+FOLFIRIは本コホート結果に基づき検討中。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 42219860 | Ann Oncol 37(8):1133-1143,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solidFill>
            <a:srgbClr val="5C37A0"/>
          </a:solidFill>
          <a:ln w="12700">
            <a:solidFill>
              <a:srgbClr val="5C37A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大腸がん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大腸がん主要試験② COMMIT（NRG-GI004/SWOG-S1610）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NCT02997228 | JCO 2026-07-29 | PMID:42525921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5C37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PFS中央値（試験群）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7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24.5ヶ月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95%CI 10.1–NE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PFS中央値（対照群）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5.3ヶ月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アテゾリズマブ単剤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5C37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HR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37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0.439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95%CI 0.23–0.84 (p=0.0103)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0BA5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CR率（triplet群）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36.1%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完全奏効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追跡期間中央値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6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3.5年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11612880" cy="274320"/>
          </a:xfrm>
          <a:prstGeom prst="rect">
            <a:avLst/>
          </a:prstGeom>
          <a:solidFill>
            <a:srgbClr val="0F2C54"/>
          </a:solidFill>
          <a:ln w="12700">
            <a:solidFill>
              <a:srgbClr val="0F2C5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74320" y="37490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試験デザイン・臨床的意義・注意点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40690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対象: dMMR/MSI-H mCRC 一次治療（N=82 比較対象; 計102例登録）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" y="45262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試験群: mFOLFOX6 + ベバシズマブ + アテゾリズマブ（triplet）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65760" y="49834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対照群: アテゾリズマブ単剤（KEYNOTE-177の結果により第3アームは早期閉鎖）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65760" y="54406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解釈注意: 対照群はアテゾリズマブ単剤（現在の標準治療 PD-1阻害薬より効果が劣る可能性）。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58978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臨床的意義: tripletのPFS改善（24.5 vs 5.3ヶ月）は確認されるが、現行SOC（ペムブロリズマブ単剤）との直接比較は未実施。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 42525921 | DOI: 10.1200/JCO-25-03052 | JCO 2026-07-29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solidFill>
            <a:srgbClr val="C0185A"/>
          </a:solidFill>
          <a:ln w="12700">
            <a:solidFill>
              <a:srgbClr val="C018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乳がん試験一覧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5試験（2026年5〜9月）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34440"/>
            <a:ext cx="11795760" cy="320040"/>
          </a:xfrm>
          <a:prstGeom prst="rect">
            <a:avLst/>
          </a:prstGeom>
          <a:solidFill>
            <a:srgbClr val="C0185A"/>
          </a:solidFill>
          <a:ln w="12700">
            <a:solidFill>
              <a:srgbClr val="C018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4320" y="123444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試験名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1234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サブタイプ/設定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12344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 vs 対照群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123444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2344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PFS/EFS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12344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778240" y="12344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承認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0" y="12344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出典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74320" y="1600200"/>
            <a:ext cx="123444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PEARLY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600200"/>
            <a:ext cx="160020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早期TNBC（periop）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1600200"/>
            <a:ext cx="196596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chemo+carbo vs chemo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1600200"/>
            <a:ext cx="411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1600200"/>
            <a:ext cx="187452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5yr EFS 81.9% vs 74.4% HR 0.68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1600200"/>
            <a:ext cx="114300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NR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1600200"/>
            <a:ext cx="173736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0" y="1600200"/>
            <a:ext cx="150876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PMID:42218963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274320" y="2487168"/>
            <a:ext cx="123444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HORIZON-Breast01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2487168"/>
            <a:ext cx="160020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HER2+ mBC 2L+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2487168"/>
            <a:ext cx="196596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trast. rezetecan vs pyrotinib+cap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2487168"/>
            <a:ext cx="41148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287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0" y="2487168"/>
            <a:ext cx="187452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30.6 vs 8.3m HR 0.22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589520" y="2487168"/>
            <a:ext cx="114300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NR（暫定）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778240" y="2487168"/>
            <a:ext cx="173736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—（中国試験）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515600" y="2487168"/>
            <a:ext cx="150876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PMID:42385760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274320" y="3374136"/>
            <a:ext cx="1234440" cy="804672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NSABP B-59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554480" y="3374136"/>
            <a:ext cx="1600200" cy="804672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早期TNBC（periop）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3200400" y="3374136"/>
            <a:ext cx="1965960" cy="804672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atezo+chemo vs PBO+chemo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5212080" y="3374136"/>
            <a:ext cx="411480" cy="804672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3374136"/>
            <a:ext cx="1874520" cy="804672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EFS HR 0.80 (p=0.083) 陰性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0" y="3374136"/>
            <a:ext cx="1143000" cy="804672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HR 0.86（NS）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3374136"/>
            <a:ext cx="1737360" cy="804672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—（撤回済）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0515600" y="3374136"/>
            <a:ext cx="1508760" cy="804672"/>
          </a:xfrm>
          <a:prstGeom prst="rect">
            <a:avLst/>
          </a:prstGeom>
          <a:solidFill>
            <a:srgbClr val="FFF0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DOI:10.1038/...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274320" y="3419856"/>
            <a:ext cx="1188720" cy="256032"/>
          </a:xfrm>
          <a:prstGeom prst="rect">
            <a:avLst/>
          </a:prstGeom>
          <a:solidFill>
            <a:srgbClr val="CC000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陰性試験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274320" y="4261104"/>
            <a:ext cx="123444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TROPION-Breast02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554480" y="4261104"/>
            <a:ext cx="160020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TNBC 1L（IO不適格）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3200400" y="4261104"/>
            <a:ext cx="196596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Dato-DXd vs chemo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5212080" y="4261104"/>
            <a:ext cx="41148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644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0" y="4261104"/>
            <a:ext cx="187452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10.8 vs 5.6m HR 0.57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7589520" y="4261104"/>
            <a:ext cx="114300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23.7 vs 18.7m HR 0.79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778240" y="4261104"/>
            <a:ext cx="173736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2026-05-22 / PMDA 2026-09-16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10515600" y="4261104"/>
            <a:ext cx="1508760" cy="804672"/>
          </a:xfrm>
          <a:prstGeom prst="rect">
            <a:avLst/>
          </a:prstGeom>
          <a:solidFill>
            <a:srgbClr val="FFF0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PMID:41937088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274320" y="5148072"/>
            <a:ext cx="123444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SERENA-6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1554480" y="5148072"/>
            <a:ext cx="160020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HR+/HER2− ESR1変異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3200400" y="5148072"/>
            <a:ext cx="196596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camizestrant+CDK4/6i vs AI+CDK4/6i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5212080" y="5148072"/>
            <a:ext cx="41148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5669280" y="5148072"/>
            <a:ext cx="187452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主要EP NR（全データNR）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7589520" y="5148072"/>
            <a:ext cx="114300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8778240" y="5148072"/>
            <a:ext cx="173736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FDA加速 2026-09-04 / PMDA 2026-07-10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10515600" y="5148072"/>
            <a:ext cx="1508760" cy="804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Lancet Oncol 2026-07-13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PEARLY PMID:42218963 | HORIZON-Breast01 PMID:42385760 | TROPION-Breast02 PMID:41937088 | SERENA-6 Lancet Oncol 2026-07-13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solidFill>
            <a:srgbClr val="C0185A"/>
          </a:solidFill>
          <a:ln w="12700">
            <a:solidFill>
              <a:srgbClr val="C018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乳がん主要試験① TROPION-Breast02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NCT05374512 | Ann Oncol 2026-08 | FDA承認 2026-05-22 / PMDA承認 2026-09-16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C018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PFS中央値（試験群）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1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10.8ヶ月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Dato-DXd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PFS中央値（対照群）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5.6ヶ月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医師選択化学療法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C018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HR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1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0.57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95%CI 0.47–0.69 (p&lt;0.0001)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C018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OS中央値（試験群）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1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23.7ヶ月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18.7ヶ月 (ctrl)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C0185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1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0.79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p=0.029（co-primary EP）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0BA5A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 vs 30%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 vs 対照群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749040"/>
            <a:ext cx="11612880" cy="274320"/>
          </a:xfrm>
          <a:prstGeom prst="rect">
            <a:avLst/>
          </a:prstGeom>
          <a:solidFill>
            <a:srgbClr val="0F2C54"/>
          </a:solidFill>
          <a:ln w="12700">
            <a:solidFill>
              <a:srgbClr val="0F2C5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4320" y="37490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試験デザイン・臨床的意義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406908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対象: 切除不能局所進行/転移性TNBC 免疫療法適応外 一次治療（N=644; 試験群 n=323, 対照群 n=321）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457200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試験群: ダトポタマブ・デルクステカン（Dato-DXd）6 mg/kg IV q3w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507492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対照群: 医師選択化学療法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557784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臨床的意義: 免疫療法適応外1次治療TNBCでPFS・OS双方を有意改善（co-primary EP達成）。FDA・PMDA双方で承認取得。免疫療法不適格TNBCの新標準治療として確立。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 41937088 | DOI: 10.1016/j.annonc.2026.03.008 | FDA: datopotamab deruxtecan-dlnk (Datroway) 2026-05-22 | PMDA: ダトロウェイ 2026-09-16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solidFill>
            <a:srgbClr val="C0185A"/>
          </a:solidFill>
          <a:ln w="12700">
            <a:solidFill>
              <a:srgbClr val="C018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乳がん主要試験② SERENA-6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NCT04964934 | Lancet Oncol 2026-07-13 | FDA加速承認 2026-09-04 / PMDA承認 2026-07-10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11612880" cy="1280160"/>
          </a:xfrm>
          <a:prstGeom prst="rect">
            <a:avLst/>
          </a:prstGeom>
          <a:solidFill>
            <a:srgbClr val="F4F7FB"/>
          </a:solidFill>
          <a:ln w="19050">
            <a:solidFill>
              <a:srgbClr val="C018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325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1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試験概要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627632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ctDNA監視によりESR1変異出現を検出（AI+CDK4/6阻害薬治療中）→ camizestrant（経口SERD）+ CDK4/6阻害薬 vs AI（継続）+ CDK4/6阻害薬への切り替え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97480"/>
            <a:ext cx="11612880" cy="320040"/>
          </a:xfrm>
          <a:prstGeom prst="rect">
            <a:avLst/>
          </a:prstGeom>
          <a:solidFill>
            <a:srgbClr val="C0185A"/>
          </a:solidFill>
          <a:ln w="12700">
            <a:solidFill>
              <a:srgbClr val="C018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6974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有効性データ（master.json記載値）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63240"/>
            <a:ext cx="3200400" cy="457200"/>
          </a:xfrm>
          <a:prstGeom prst="rect">
            <a:avLst/>
          </a:prstGeom>
          <a:solidFill>
            <a:srgbClr val="FCE4EC"/>
          </a:solidFill>
          <a:ln w="6350">
            <a:solidFill>
              <a:srgbClr val="F8BB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309067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1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09067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NR（元データ未記載）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3200400" cy="457200"/>
          </a:xfrm>
          <a:prstGeom prst="rect">
            <a:avLst/>
          </a:prstGeom>
          <a:solidFill>
            <a:srgbClr val="FCE4EC"/>
          </a:solidFill>
          <a:ln w="6350">
            <a:solidFill>
              <a:srgbClr val="F8BB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363931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1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主要エンドポイント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63931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NR（元データ未記載）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60520"/>
            <a:ext cx="3200400" cy="457200"/>
          </a:xfrm>
          <a:prstGeom prst="rect">
            <a:avLst/>
          </a:prstGeom>
          <a:solidFill>
            <a:srgbClr val="FCE4EC"/>
          </a:solidFill>
          <a:ln w="6350">
            <a:solidFill>
              <a:srgbClr val="F8BB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418795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1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HR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418795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NR（元データ未記載）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709160"/>
            <a:ext cx="3200400" cy="457200"/>
          </a:xfrm>
          <a:prstGeom prst="rect">
            <a:avLst/>
          </a:prstGeom>
          <a:solidFill>
            <a:srgbClr val="FCE4EC"/>
          </a:solidFill>
          <a:ln w="6350">
            <a:solidFill>
              <a:srgbClr val="F8BB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47365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1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HR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73659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NR（元データ未記載）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5257800"/>
            <a:ext cx="3200400" cy="457200"/>
          </a:xfrm>
          <a:prstGeom prst="rect">
            <a:avLst/>
          </a:prstGeom>
          <a:solidFill>
            <a:srgbClr val="FCE4EC"/>
          </a:solidFill>
          <a:ln w="6350">
            <a:solidFill>
              <a:srgbClr val="F8BB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760" y="52852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1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試験デザイン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566160" y="5285232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ctDNA監視によるESR1変異出現時に介入する適応型デザイン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5852160"/>
            <a:ext cx="1161288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E0AA0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58795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4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FDA加速承認: camizestrant（Etcamah）ESR1変異HR+/HER2−局所進行/転移性乳がん+CDK4/6阻害薬 2026-09-04  |  PMDA承認: エトカマ錠75mg 2026-07-10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Lancet Oncol 2026-07-13 | PMID: NR | FDA: 2026-09-04（加速承認）| PMDA: 2026-07-10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solidFill>
            <a:srgbClr val="C0185A"/>
          </a:solidFill>
          <a:ln w="12700">
            <a:solidFill>
              <a:srgbClr val="C018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乳がん主要試験③ HORIZON-Breast01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NCT05424835 | Lancet Oncol 2026-07-01 | PMID:42385760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C018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PFS中央値（試験群）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1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30.6ヶ月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trastuzumab rezetecan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2336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PFS中央値（対照群）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8.3ヶ月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pyrotinib + capecitabine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0" y="132588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C0185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HR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1645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1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103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95%CI 0.15–0.34 (p&lt;0.0001)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0BA5A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576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12ヶ月率（試験群）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A5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84.7%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36576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95%CI 77.0–90.0%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02336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11480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PFS 12ヶ月率（対照群）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11480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6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35.5%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11480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95%CI 26.8–44.2%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772400" y="2606040"/>
            <a:ext cx="3566160" cy="1097280"/>
          </a:xfrm>
          <a:prstGeom prst="rect">
            <a:avLst/>
          </a:prstGeom>
          <a:solidFill>
            <a:srgbClr val="F4F7FB"/>
          </a:solidFill>
          <a:ln w="25400">
            <a:solidFill>
              <a:srgbClr val="C018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6384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ORR（試験群）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29260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1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81.7%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3383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749040"/>
            <a:ext cx="11612880" cy="274320"/>
          </a:xfrm>
          <a:prstGeom prst="rect">
            <a:avLst/>
          </a:prstGeom>
          <a:solidFill>
            <a:srgbClr val="0F2C54"/>
          </a:solidFill>
          <a:ln w="12700">
            <a:solidFill>
              <a:srgbClr val="0F2C5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74320" y="37490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試験デザイン・臨床的意義・注意点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40690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対象: HER2陽性転移性乳がん 前治療後（トラスツズマブ+タキサン治療歴あり）（N=287; 試験群 n=142, 対照群 n=145）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365760" y="45262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試験群: trastuzumab rezetecan（SHR-A1811; HER2標的ADC）4.8 mg/kg IV q3w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65760" y="49834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対照群: ピロチニブ 400mg/日 + カペシタビン（中国標準治療）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65760" y="54406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対照群注意: ピロチニブ+カペシタビンは中国国内標準治療であり、グローバル標準（T-DM1/T-DXd）と異なる。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65760" y="5897880"/>
            <a:ext cx="11521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臨床的意義: PFS HR 0.22という劇的改善を示すが、グローバルな標準治療との直接比較は未実施。中国多施設第III相中間解析。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 42385760 | DOI: 10.1016/S1470-2045(26)00193-2 | Lancet Oncol 2026-07-01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solidFill>
            <a:srgbClr val="C0185A"/>
          </a:solidFill>
          <a:ln w="12700">
            <a:solidFill>
              <a:srgbClr val="C0185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515600" y="1371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乳がん主要試験④ PEARLY / NSABP B-59 まとめ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早期TNBC 周術期試験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5486400" cy="320040"/>
          </a:xfrm>
          <a:prstGeom prst="rect">
            <a:avLst/>
          </a:prstGeom>
          <a:solidFill>
            <a:srgbClr val="C0185A"/>
          </a:solidFill>
          <a:ln w="12700">
            <a:solidFill>
              <a:srgbClr val="C018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188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PEARLY（KCSG BR 15-1）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2286000" cy="566928"/>
          </a:xfrm>
          <a:prstGeom prst="rect">
            <a:avLst/>
          </a:prstGeom>
          <a:solidFill>
            <a:srgbClr val="FCE4EC"/>
          </a:solidFill>
          <a:ln w="6350">
            <a:solidFill>
              <a:srgbClr val="F8BB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15819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1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158191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NR（詳細未公開）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2286000" cy="566928"/>
          </a:xfrm>
          <a:prstGeom prst="rect">
            <a:avLst/>
          </a:prstGeom>
          <a:solidFill>
            <a:srgbClr val="FCE4EC"/>
          </a:solidFill>
          <a:ln w="6350">
            <a:solidFill>
              <a:srgbClr val="F8BB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2240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1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5年EFS（試験群）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2402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81.9%  HR 0.68 (0.50–0.93) p=0.017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2286000" cy="566928"/>
          </a:xfrm>
          <a:prstGeom prst="rect">
            <a:avLst/>
          </a:prstGeom>
          <a:solidFill>
            <a:srgbClr val="FCE4EC"/>
          </a:solidFill>
          <a:ln w="6350">
            <a:solidFill>
              <a:srgbClr val="F8BB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28986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1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5年EFS（対照群）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289864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74.4%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529584"/>
            <a:ext cx="2286000" cy="566928"/>
          </a:xfrm>
          <a:prstGeom prst="rect">
            <a:avLst/>
          </a:prstGeom>
          <a:solidFill>
            <a:srgbClr val="FCE4EC"/>
          </a:solidFill>
          <a:ln w="6350">
            <a:solidFill>
              <a:srgbClr val="F8BB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355701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1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追跡期間中央値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355701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51.1ヶ月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187952"/>
            <a:ext cx="2286000" cy="566928"/>
          </a:xfrm>
          <a:prstGeom prst="rect">
            <a:avLst/>
          </a:prstGeom>
          <a:solidFill>
            <a:srgbClr val="FCE4EC"/>
          </a:solidFill>
          <a:ln w="6350">
            <a:solidFill>
              <a:srgbClr val="F8BB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42153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1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2651760" y="421538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アンスラサイクリン後タキサン + カルボプラチン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846320"/>
            <a:ext cx="2286000" cy="566928"/>
          </a:xfrm>
          <a:prstGeom prst="rect">
            <a:avLst/>
          </a:prstGeom>
          <a:solidFill>
            <a:srgbClr val="FCE4EC"/>
          </a:solidFill>
          <a:ln w="6350">
            <a:solidFill>
              <a:srgbClr val="F8BB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65760" y="487375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1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対照群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651760" y="487375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アンスラサイクリン後タキサン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74320" y="5577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PMID: 42218963 | Ann Oncol 2026-05-30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26480" y="1188720"/>
            <a:ext cx="576072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0" y="11887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NSABP B-59/GeparDouze — 陰性試験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126480" y="1554480"/>
            <a:ext cx="2286000" cy="566928"/>
          </a:xfrm>
          <a:prstGeom prst="rect">
            <a:avLst/>
          </a:prstGeom>
          <a:solidFill>
            <a:srgbClr val="FFDDE0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158191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158191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1550例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2212848"/>
            <a:ext cx="2286000" cy="566928"/>
          </a:xfrm>
          <a:prstGeom prst="rect">
            <a:avLst/>
          </a:prstGeom>
          <a:solidFill>
            <a:srgbClr val="FFDDE0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0" y="22402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EFS HR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503920" y="2240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0.80 (0.62–1.03) p=0.083 → 主要EP未達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2871216"/>
            <a:ext cx="2286000" cy="566928"/>
          </a:xfrm>
          <a:prstGeom prst="rect">
            <a:avLst/>
          </a:prstGeom>
          <a:solidFill>
            <a:srgbClr val="FFDDE0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0" y="2898648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HR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503920" y="289864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0.86 (0.62–1.19) p値NR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3529584"/>
            <a:ext cx="2286000" cy="566928"/>
          </a:xfrm>
          <a:prstGeom prst="rect">
            <a:avLst/>
          </a:prstGeom>
          <a:solidFill>
            <a:srgbClr val="FFDDE0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17920" y="3557016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503920" y="35570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atezo + chemo（neo） → atezo（adj）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4187952"/>
            <a:ext cx="2286000" cy="566928"/>
          </a:xfrm>
          <a:prstGeom prst="rect">
            <a:avLst/>
          </a:prstGeom>
          <a:solidFill>
            <a:srgbClr val="FFDDE0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217920" y="4215384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対照群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503920" y="421538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PBO + chemo（neo） → PBO（adj）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4846320"/>
            <a:ext cx="2286000" cy="566928"/>
          </a:xfrm>
          <a:prstGeom prst="rect">
            <a:avLst/>
          </a:prstGeom>
          <a:solidFill>
            <a:srgbClr val="FFDDE0"/>
          </a:solidFill>
          <a:ln w="6350">
            <a:solidFill>
              <a:srgbClr val="FFAAA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217920" y="487375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atezo FDA状況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503920" y="48737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乳がん適応は2021年に撤回済（本試験でも確認）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26480" y="5486400"/>
            <a:ext cx="5760720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17920" y="551383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KEYNOTE-522（ペムブロリズマブ）7年追跡（EFS HR 0.68, OS HR改善、ASCO 2026抄録のみ）と対照的な結果。PD-L1阻害薬（atezo）の限界を示す。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PEARLY PMID:42218963 | NSABP B-59 DOI:10.1038/s41591-026-04565-6 | NatMed 2026-09-01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全体の考察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標準治療インパクト・日本での今後の承認見込み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80160"/>
            <a:ext cx="228600" cy="1097280"/>
          </a:xfrm>
          <a:prstGeom prst="rect">
            <a:avLst/>
          </a:prstGeom>
          <a:solidFill>
            <a:srgbClr val="E07B00"/>
          </a:solidFill>
          <a:ln w="12700">
            <a:solidFill>
              <a:srgbClr val="E07B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32588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胃がん: 免疫療法とbispecificがパラダイム転換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600200"/>
            <a:ext cx="11338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HERIZON-GEA-01（zanidatamab+tislelizumab; FDA承認済）はHER2+GEA 1Lの新標準候補。MATTERHORN・ASTRUM-006が切除可能胃がんの術前後免疫療法を確立。日本でのMATTERHORN PMDA承認（2026-06）はいち早く実装。RATIONALE-305もPMDA承認取得（tislelizumab; 2026-06）。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2606040"/>
            <a:ext cx="228600" cy="1097280"/>
          </a:xfrm>
          <a:prstGeom prst="rect">
            <a:avLst/>
          </a:prstGeom>
          <a:solidFill>
            <a:srgbClr val="5C37A0"/>
          </a:solidFill>
          <a:ln w="12700">
            <a:solidFill>
              <a:srgbClr val="5C37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65176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大腸がん: BRAFとdMMR治療の成熟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926080"/>
            <a:ext cx="11338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BREAKWATER（EC+FOLFIRI）はBRAF V600E mCRC 1Lの新標準。ORR・PFS・OS全項目で改善。COMMITはdMMR/MSI-H 1LでのtripletのPFS改善を示すが、対照群がPD-1阻害薬でない点に注意。HORIZON-CRC01（HER2+）は抄録のみ、査読誌掲載後に再評価予定。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3931920"/>
            <a:ext cx="228600" cy="1097280"/>
          </a:xfrm>
          <a:prstGeom prst="rect">
            <a:avLst/>
          </a:prstGeom>
          <a:solidFill>
            <a:srgbClr val="C0185A"/>
          </a:solidFill>
          <a:ln w="12700">
            <a:solidFill>
              <a:srgbClr val="C018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97764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乳がん: ADC・SERD・PROTAC時代の幕開け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251960"/>
            <a:ext cx="11338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Dato-DXd（TROPION-Breast02）はIO不適格TNBC 1Lで初のADC標準治療確立（FDA・PMDA承認）。camizestrant（SERENA-6）はESR1変異HR+乳がんのctDNA誘導治療切り替えとして承認。vepdegestrant（VERITAC-2）は初のPROTAC薬剤として歴史的承認（FDA 2026-05-01）。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5257800"/>
            <a:ext cx="228600" cy="109728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5303520"/>
            <a:ext cx="11338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日本での今後の承認見込み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5577840"/>
            <a:ext cx="11338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IZON-GEA-01（zanidatamab）：PMDA申請状況未確認、FDA承認取得済みのため国内申請加速が期待。TROPION-Breast02：PMDA承認済み（2026-09-16）。BREAKWATER（EC+mFOLFOX6→FOLFIRI）：PMDA部会審議中（encorafenib+cetuximab）。DESTINY-Breast09（T-DXd; HER2+ 1L）：PMDA承認（2026-09-16）。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付録：要確認リスト・除外試験一覧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0"/>
            <a:ext cx="11612880" cy="320040"/>
          </a:xfrm>
          <a:prstGeom prst="rect">
            <a:avLst/>
          </a:prstGeom>
          <a:solidFill>
            <a:srgbClr val="0BA5A0"/>
          </a:solidFill>
          <a:ln w="12700">
            <a:solidFill>
              <a:srgbClr val="0BA5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要確認（1件）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54480"/>
            <a:ext cx="11430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HORIZON-CRC01（NCT06199973）: HER2+RAS/RAF野生型化学療法抵抗性CRC、trastuzumab rezetecan vs SOC、PFS HR 0.33（p&lt;0.0001）、ORR 40.7% vs 4.5%。ASCO 2026抄録のみ（DOI:10.1200/JCO.2026.44.16_suppl.3505）。査読論文掲載後に本編に移動予定。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11612880" cy="3200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3172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除外試験（5件）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670048"/>
            <a:ext cx="11612880" cy="274320"/>
          </a:xfrm>
          <a:prstGeom prst="rect">
            <a:avLst/>
          </a:prstGeom>
          <a:solidFill>
            <a:srgbClr val="FFCCCC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" y="267004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試験名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828800" y="267004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がん種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267004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試験群 vs 対照群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670048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設定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6700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除外理由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" y="2990088"/>
            <a:ext cx="150876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KRYSTAL-10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828800" y="2990088"/>
            <a:ext cx="132588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大腸がん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2990088"/>
            <a:ext cx="251460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adagrasib+cetuximab vs chemo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2990088"/>
            <a:ext cx="169164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KRAS G12C mCRC 2L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2990088"/>
            <a:ext cx="448056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陰性試験（PFS HR 0.89 NS、OS HR 0.83 NS）; FDA加速承認取り消し（2026-09-01）; ESMO GI 2026 LBA1のみ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3648456"/>
            <a:ext cx="15087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CLARITY-Gastric01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3648456"/>
            <a:ext cx="13258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3648456"/>
            <a:ext cx="25146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sonesitatug vedotin vs IC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3648456"/>
            <a:ext cx="16916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CLDN18.2+ GEA 2L+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498080" y="3648456"/>
            <a:ext cx="44805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プレスリリースのみ（AZ 2026-07-27）; 詳細数値未開示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" y="4306824"/>
            <a:ext cx="150876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ATTRACTION-6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828800" y="4306824"/>
            <a:ext cx="132588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胃がん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4306824"/>
            <a:ext cx="251460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nivo+ipi+chemo vs chemo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760720" y="4306824"/>
            <a:ext cx="169164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HER2− 1L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4306824"/>
            <a:ext cx="448056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陰性試験（OS NS）; ASCO 2026 #4006のみ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274320" y="4965192"/>
            <a:ext cx="15087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PANKU-Breast02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828800" y="4965192"/>
            <a:ext cx="132588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3200400" y="4965192"/>
            <a:ext cx="251460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iza-bren vs chemo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760720" y="4965192"/>
            <a:ext cx="169164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mTNBC 2L+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0" y="4965192"/>
            <a:ext cx="4480560" cy="5943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 2026 LBA1003のみ; 査読論文PMIDなし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274320" y="5623560"/>
            <a:ext cx="150876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KEYNOTE-522 最終OS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828800" y="5623560"/>
            <a:ext cx="132588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乳がん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200400" y="5623560"/>
            <a:ext cx="251460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pembro+chemo vs PBO+chemo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760720" y="5623560"/>
            <a:ext cx="169164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早期TNBC periop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0" y="5623560"/>
            <a:ext cx="4480560" cy="59436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ASCO 2026 #507のみ; 7年EFS HR 0.68, OS改善示唆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C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付録：参考文献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本編収録12試験 + regulatory_only 9件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1247120" cy="0"/>
          </a:xfrm>
          <a:prstGeom prst="line">
            <a:avLst/>
          </a:prstGeom>
          <a:noFill/>
          <a:ln w="19050">
            <a:solidFill>
              <a:srgbClr val="0BA5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65760" y="123444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HERIZON-GEA-01: DOI 10.1056/NEJMoa2517729, NEJM 2026-05-27. FDA: zanidatamab-hrii+tislelizumab-jsgr 2026-08-25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581912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KC-WISE: PMID 41571045, Ann Oncol 2026-06. DOI 10.1016/j.annonc.2026.01.006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1929384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ASTRUM-006: PMID 42225112, Lancet 2026-06-20. DOI 10.1016/S0140-6736(26)00974-8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276856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CheckMate 649 5yr: PMID 41687718, Ann Oncol 2026-06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2624328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MATTERHORN: DOI 10.1016/S0140-6736(26)01254-7, Lancet 2026-09-09. PMDA 2026-06-19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297180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BREAKWATER Cohort 3: PMID 42219860, Ann Oncol 37(8):1133-1143, 2026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65760" y="3319272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COMMIT: PMID 42525921, DOI 10.1200/JCO-25-03052, JCO 2026-07-29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3666744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PEARLY: PMID 42218963, DOI 10.1016/j.annonc.2026.05.703, Ann Oncol 2026-05-30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4014216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⑨ HORIZON-Breast01: PMID 42385760, DOI 10.1016/S1470-2045(26)00193-2, Lancet Oncol 2026-07-01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361688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⑩ NSABP B-59: DOI 10.1038/s41591-026-04565-6, Nat Med 2026-09-01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470916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⑪ TROPION-Breast02: PMID 41937088, DOI 10.1016/j.annonc.2026.03.008, Ann Oncol 2026-08. FDA 2026-05-22; PMDA 2026-09-16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5056632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⑫ SERENA-6: Lancet Oncol 2026-07-13 (PMID NR). FDA加速承認 2026-09-04; PMDA承認 2026-07-10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5404104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5751576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Regulatory-only: DESTINY-Breast05/11 (FDA 2026-05-15); ASCENT-03/04 (FDA 2026-06-24); PATINA (FDA 2026-06-24);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365760" y="6099048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VERITAC-2 (FDA 2026-05-01); VIKTORIA-1 (FDA 2026-07-14); DESTINY-Breast09 (PMDA 2026-09-16); RATIONALE-305 (PMDA 2026-06-19)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2026-09-27T02:44:10Z</dcterms:created>
  <dcterms:modified xsi:type="dcterms:W3CDTF">2026-09-27T02:44:10Z</dcterms:modified>
</cp:coreProperties>
</file>